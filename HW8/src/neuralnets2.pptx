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png" ContentType="image/pn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9" r:id="rId2"/>
    <p:sldId id="276" r:id="rId3"/>
    <p:sldId id="269" r:id="rId4"/>
    <p:sldId id="285" r:id="rId5"/>
    <p:sldId id="267" r:id="rId6"/>
    <p:sldId id="288" r:id="rId7"/>
    <p:sldId id="266" r:id="rId8"/>
    <p:sldId id="287" r:id="rId9"/>
    <p:sldId id="290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-880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notesMaster" Target="notesMasters/notesMaster1.xml"/><Relationship Id="rId12" Type="http://schemas.openxmlformats.org/officeDocument/2006/relationships/printerSettings" Target="printerSettings/printerSettings1.bin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5A08979-F40A-1040-B7F3-2D8815C4B52E}" type="datetimeFigureOut">
              <a:rPr lang="en-US" smtClean="0"/>
              <a:t>12/4/18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23B08EC-D30E-D04F-B183-45190899E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131962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CA604-54F5-4842-95C2-355C01D5FD1B}" type="datetimeFigureOut">
              <a:rPr lang="en-US" smtClean="0"/>
              <a:pPr/>
              <a:t>12/4/18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CACD8-1E64-3041-B147-3E16596FF75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CA604-54F5-4842-95C2-355C01D5FD1B}" type="datetimeFigureOut">
              <a:rPr lang="en-US" smtClean="0"/>
              <a:pPr/>
              <a:t>12/4/18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CACD8-1E64-3041-B147-3E16596FF75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CA604-54F5-4842-95C2-355C01D5FD1B}" type="datetimeFigureOut">
              <a:rPr lang="en-US" smtClean="0"/>
              <a:pPr/>
              <a:t>12/4/18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CACD8-1E64-3041-B147-3E16596FF75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CA604-54F5-4842-95C2-355C01D5FD1B}" type="datetimeFigureOut">
              <a:rPr lang="en-US" smtClean="0"/>
              <a:pPr/>
              <a:t>12/4/18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CACD8-1E64-3041-B147-3E16596FF75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CA604-54F5-4842-95C2-355C01D5FD1B}" type="datetimeFigureOut">
              <a:rPr lang="en-US" smtClean="0"/>
              <a:pPr/>
              <a:t>12/4/18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CACD8-1E64-3041-B147-3E16596FF75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CA604-54F5-4842-95C2-355C01D5FD1B}" type="datetimeFigureOut">
              <a:rPr lang="en-US" smtClean="0"/>
              <a:pPr/>
              <a:t>12/4/18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CACD8-1E64-3041-B147-3E16596FF75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CA604-54F5-4842-95C2-355C01D5FD1B}" type="datetimeFigureOut">
              <a:rPr lang="en-US" smtClean="0"/>
              <a:pPr/>
              <a:t>12/4/18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CACD8-1E64-3041-B147-3E16596FF75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CA604-54F5-4842-95C2-355C01D5FD1B}" type="datetimeFigureOut">
              <a:rPr lang="en-US" smtClean="0"/>
              <a:pPr/>
              <a:t>12/4/18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CACD8-1E64-3041-B147-3E16596FF75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CA604-54F5-4842-95C2-355C01D5FD1B}" type="datetimeFigureOut">
              <a:rPr lang="en-US" smtClean="0"/>
              <a:pPr/>
              <a:t>12/4/18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CACD8-1E64-3041-B147-3E16596FF75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CA604-54F5-4842-95C2-355C01D5FD1B}" type="datetimeFigureOut">
              <a:rPr lang="en-US" smtClean="0"/>
              <a:pPr/>
              <a:t>12/4/18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CACD8-1E64-3041-B147-3E16596FF75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5CA604-54F5-4842-95C2-355C01D5FD1B}" type="datetimeFigureOut">
              <a:rPr lang="en-US" smtClean="0"/>
              <a:pPr/>
              <a:t>12/4/18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29CACD8-1E64-3041-B147-3E16596FF75F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05CA604-54F5-4842-95C2-355C01D5FD1B}" type="datetimeFigureOut">
              <a:rPr lang="en-US" smtClean="0"/>
              <a:pPr/>
              <a:t>12/4/18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29CACD8-1E64-3041-B147-3E16596FF75F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Comparison to logic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Can replicate logic gates with nodes</a:t>
            </a:r>
          </a:p>
          <a:p>
            <a:r>
              <a:rPr lang="en-US" sz="2800" dirty="0" smtClean="0"/>
              <a:t>Can compute any </a:t>
            </a:r>
            <a:r>
              <a:rPr lang="en-US" sz="2800" dirty="0" err="1" smtClean="0"/>
              <a:t>boolean</a:t>
            </a:r>
            <a:r>
              <a:rPr lang="en-US" sz="2800" dirty="0" smtClean="0"/>
              <a:t> logic statement with neural network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205" y="3440821"/>
            <a:ext cx="7363014" cy="2226027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20417" y="3071489"/>
            <a:ext cx="780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</a:t>
            </a:r>
            <a:r>
              <a:rPr lang="en-US" baseline="-25000" dirty="0" smtClean="0"/>
              <a:t>0</a:t>
            </a:r>
            <a:r>
              <a:rPr lang="en-US" dirty="0" smtClean="0"/>
              <a:t> = -1</a:t>
            </a:r>
            <a:endParaRPr lang="en-US" dirty="0"/>
          </a:p>
        </p:txBody>
      </p:sp>
      <p:sp>
        <p:nvSpPr>
          <p:cNvPr id="10" name="TextBox 9"/>
          <p:cNvSpPr txBox="1"/>
          <p:nvPr/>
        </p:nvSpPr>
        <p:spPr>
          <a:xfrm>
            <a:off x="3287967" y="3071489"/>
            <a:ext cx="780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</a:t>
            </a:r>
            <a:r>
              <a:rPr lang="en-US" baseline="-25000" dirty="0" smtClean="0"/>
              <a:t>0</a:t>
            </a:r>
            <a:r>
              <a:rPr lang="en-US" dirty="0" smtClean="0"/>
              <a:t> = -1</a:t>
            </a:r>
            <a:endParaRPr lang="en-US" dirty="0"/>
          </a:p>
        </p:txBody>
      </p:sp>
      <p:sp>
        <p:nvSpPr>
          <p:cNvPr id="11" name="TextBox 10"/>
          <p:cNvSpPr txBox="1"/>
          <p:nvPr/>
        </p:nvSpPr>
        <p:spPr>
          <a:xfrm>
            <a:off x="5681787" y="3039223"/>
            <a:ext cx="7802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a</a:t>
            </a:r>
            <a:r>
              <a:rPr lang="en-US" baseline="-25000" dirty="0" smtClean="0"/>
              <a:t>0</a:t>
            </a:r>
            <a:r>
              <a:rPr lang="en-US" dirty="0" smtClean="0"/>
              <a:t> = -1</a:t>
            </a:r>
            <a:endParaRPr lang="en-US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 propagation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Search for a set of weights that reduces the error of the output nodes</a:t>
            </a:r>
          </a:p>
          <a:p>
            <a:r>
              <a:rPr lang="en-US" dirty="0" smtClean="0"/>
              <a:t>Hidden nodes:</a:t>
            </a:r>
          </a:p>
          <a:p>
            <a:pPr lvl="1"/>
            <a:r>
              <a:rPr lang="en-US" dirty="0" smtClean="0"/>
              <a:t>Each hidden node j is responsible for some of the error in each of the output nodes</a:t>
            </a:r>
          </a:p>
          <a:p>
            <a:pPr lvl="1"/>
            <a:r>
              <a:rPr lang="en-US" dirty="0" smtClean="0"/>
              <a:t>The greater the weight, the more of the error the hidden node is responsible for</a:t>
            </a:r>
          </a:p>
          <a:p>
            <a:pPr lvl="1"/>
            <a:r>
              <a:rPr lang="en-US" dirty="0" smtClean="0"/>
              <a:t>The more it should change</a:t>
            </a:r>
          </a:p>
          <a:p>
            <a:r>
              <a:rPr lang="en-US" dirty="0"/>
              <a:t>Gradient </a:t>
            </a:r>
            <a:r>
              <a:rPr lang="en-US" dirty="0" smtClean="0"/>
              <a:t>Descent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2542114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 propagation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Initialize weights in network to small random numbers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Given an example (x, y), run the network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Propagate backwards</a:t>
            </a:r>
          </a:p>
          <a:p>
            <a:pPr marL="400050" lvl="1" indent="0">
              <a:buNone/>
            </a:pPr>
            <a:r>
              <a:rPr lang="en-US" dirty="0" smtClean="0"/>
              <a:t>		For each node j in output layer do: </a:t>
            </a:r>
            <a:br>
              <a:rPr lang="en-US" dirty="0" smtClean="0"/>
            </a:br>
            <a:r>
              <a:rPr lang="en-US" dirty="0" smtClean="0"/>
              <a:t>			</a:t>
            </a:r>
            <a:r>
              <a:rPr lang="en-US" dirty="0" err="1" smtClean="0"/>
              <a:t>Δ</a:t>
            </a:r>
            <a:r>
              <a:rPr lang="en-US" baseline="-25000" dirty="0" err="1" smtClean="0"/>
              <a:t>j</a:t>
            </a:r>
            <a:r>
              <a:rPr lang="en-US" dirty="0" smtClean="0"/>
              <a:t> = g’(</a:t>
            </a:r>
            <a:r>
              <a:rPr lang="en-US" dirty="0" err="1" smtClean="0"/>
              <a:t>in</a:t>
            </a:r>
            <a:r>
              <a:rPr lang="en-US" baseline="-25000" dirty="0" err="1" smtClean="0"/>
              <a:t>j</a:t>
            </a:r>
            <a:r>
              <a:rPr lang="en-US" dirty="0" smtClean="0"/>
              <a:t>) × (</a:t>
            </a:r>
            <a:r>
              <a:rPr lang="en-US" dirty="0" err="1" smtClean="0"/>
              <a:t>y</a:t>
            </a:r>
            <a:r>
              <a:rPr lang="en-US" baseline="-25000" dirty="0" err="1" smtClean="0"/>
              <a:t>j</a:t>
            </a:r>
            <a:r>
              <a:rPr lang="en-US" dirty="0" smtClean="0"/>
              <a:t> – </a:t>
            </a:r>
            <a:r>
              <a:rPr lang="en-US" dirty="0" err="1" smtClean="0"/>
              <a:t>a</a:t>
            </a:r>
            <a:r>
              <a:rPr lang="en-US" baseline="-25000" dirty="0" err="1" smtClean="0"/>
              <a:t>j</a:t>
            </a:r>
            <a:r>
              <a:rPr lang="en-US" dirty="0" smtClean="0"/>
              <a:t>)</a:t>
            </a:r>
          </a:p>
          <a:p>
            <a:pPr marL="400050" lvl="1" indent="0">
              <a:buNone/>
            </a:pPr>
            <a:r>
              <a:rPr lang="en-US" dirty="0" smtClean="0"/>
              <a:t>		For each layer l from L-1 to 1 do:</a:t>
            </a:r>
          </a:p>
          <a:p>
            <a:pPr marL="800100" lvl="2" indent="0">
              <a:buNone/>
            </a:pPr>
            <a:r>
              <a:rPr lang="en-US" dirty="0" smtClean="0"/>
              <a:t>		For each node </a:t>
            </a:r>
            <a:r>
              <a:rPr lang="en-US" dirty="0" err="1" smtClean="0"/>
              <a:t>i</a:t>
            </a:r>
            <a:r>
              <a:rPr lang="en-US" dirty="0" smtClean="0"/>
              <a:t> in layer l do:</a:t>
            </a:r>
            <a:br>
              <a:rPr lang="en-US" dirty="0" smtClean="0"/>
            </a:br>
            <a:r>
              <a:rPr lang="en-US" dirty="0" smtClean="0"/>
              <a:t>			</a:t>
            </a:r>
            <a:r>
              <a:rPr lang="en-US" dirty="0" err="1" smtClean="0"/>
              <a:t>Δ</a:t>
            </a:r>
            <a:r>
              <a:rPr lang="en-US" baseline="-25000" dirty="0" err="1" smtClean="0"/>
              <a:t>i</a:t>
            </a:r>
            <a:r>
              <a:rPr lang="en-US" dirty="0" smtClean="0"/>
              <a:t> = g’(</a:t>
            </a:r>
            <a:r>
              <a:rPr lang="en-US" dirty="0" err="1" smtClean="0"/>
              <a:t>in</a:t>
            </a:r>
            <a:r>
              <a:rPr lang="en-US" baseline="-25000" dirty="0" err="1" smtClean="0"/>
              <a:t>i</a:t>
            </a:r>
            <a:r>
              <a:rPr lang="en-US" dirty="0" smtClean="0"/>
              <a:t>)∑</a:t>
            </a:r>
            <a:r>
              <a:rPr lang="en-US" baseline="-25000" dirty="0" smtClean="0"/>
              <a:t>j</a:t>
            </a:r>
            <a:r>
              <a:rPr lang="en-US" dirty="0" smtClean="0"/>
              <a:t> </a:t>
            </a:r>
            <a:r>
              <a:rPr lang="en-US" dirty="0" err="1" smtClean="0"/>
              <a:t>w</a:t>
            </a:r>
            <a:r>
              <a:rPr lang="en-US" baseline="-25000" dirty="0" err="1" smtClean="0"/>
              <a:t>i,j</a:t>
            </a:r>
            <a:r>
              <a:rPr lang="en-US" dirty="0" err="1" smtClean="0"/>
              <a:t>∆</a:t>
            </a:r>
            <a:r>
              <a:rPr lang="en-US" baseline="-25000" dirty="0" err="1" smtClean="0"/>
              <a:t>j</a:t>
            </a:r>
            <a:endParaRPr lang="en-US" baseline="-25000" dirty="0" smtClean="0"/>
          </a:p>
          <a:p>
            <a:pPr marL="800100" lvl="2" indent="0">
              <a:buNone/>
            </a:pPr>
            <a:r>
              <a:rPr lang="en-US" dirty="0" smtClean="0"/>
              <a:t>		For each weight </a:t>
            </a:r>
            <a:r>
              <a:rPr lang="en-US" dirty="0" err="1" smtClean="0"/>
              <a:t>w</a:t>
            </a:r>
            <a:r>
              <a:rPr lang="en-US" baseline="-25000" dirty="0" err="1" smtClean="0"/>
              <a:t>i,j</a:t>
            </a:r>
            <a:r>
              <a:rPr lang="en-US" dirty="0" smtClean="0"/>
              <a:t> in network do:</a:t>
            </a:r>
            <a:br>
              <a:rPr lang="en-US" dirty="0" smtClean="0"/>
            </a:br>
            <a:r>
              <a:rPr lang="en-US" dirty="0" smtClean="0"/>
              <a:t>			</a:t>
            </a:r>
            <a:r>
              <a:rPr lang="en-US" dirty="0" err="1" smtClean="0"/>
              <a:t>w</a:t>
            </a:r>
            <a:r>
              <a:rPr lang="en-US" baseline="-25000" dirty="0" err="1" smtClean="0"/>
              <a:t>i,j</a:t>
            </a:r>
            <a:r>
              <a:rPr lang="en-US" dirty="0" smtClean="0"/>
              <a:t> = </a:t>
            </a:r>
            <a:r>
              <a:rPr lang="en-US" dirty="0" err="1" smtClean="0"/>
              <a:t>w</a:t>
            </a:r>
            <a:r>
              <a:rPr lang="en-US" baseline="-25000" dirty="0" err="1" smtClean="0"/>
              <a:t>i,j</a:t>
            </a:r>
            <a:r>
              <a:rPr lang="en-US" dirty="0" smtClean="0"/>
              <a:t> + (α × </a:t>
            </a:r>
            <a:r>
              <a:rPr lang="en-US" dirty="0" err="1" smtClean="0"/>
              <a:t>a</a:t>
            </a:r>
            <a:r>
              <a:rPr lang="en-US" baseline="-25000" dirty="0" err="1" smtClean="0"/>
              <a:t>i</a:t>
            </a:r>
            <a:r>
              <a:rPr lang="en-US" dirty="0" smtClean="0"/>
              <a:t> × ∆</a:t>
            </a:r>
            <a:r>
              <a:rPr lang="en-US" baseline="-25000" dirty="0" smtClean="0"/>
              <a:t>j</a:t>
            </a:r>
            <a:r>
              <a:rPr lang="en-US" dirty="0" smtClean="0"/>
              <a:t>) x -1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Repeat until some stopping criteria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45594659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Back propagation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dirty="0" smtClean="0"/>
              <a:t>Initialize weights in network to small random numbers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Given an example (x, y), run the network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Propagate backwards</a:t>
            </a:r>
          </a:p>
          <a:p>
            <a:pPr marL="400050" lvl="1" indent="0">
              <a:buNone/>
            </a:pPr>
            <a:r>
              <a:rPr lang="en-US" dirty="0" smtClean="0"/>
              <a:t>		For each node j in output layer do: </a:t>
            </a:r>
            <a:br>
              <a:rPr lang="en-US" dirty="0" smtClean="0"/>
            </a:br>
            <a:r>
              <a:rPr lang="en-US" dirty="0" smtClean="0"/>
              <a:t>			</a:t>
            </a:r>
            <a:r>
              <a:rPr lang="en-US" dirty="0" err="1" smtClean="0"/>
              <a:t>Δ</a:t>
            </a:r>
            <a:r>
              <a:rPr lang="en-US" baseline="-25000" dirty="0" err="1" smtClean="0"/>
              <a:t>j</a:t>
            </a:r>
            <a:r>
              <a:rPr lang="en-US" dirty="0" smtClean="0"/>
              <a:t> = g’(</a:t>
            </a:r>
            <a:r>
              <a:rPr lang="en-US" dirty="0" err="1" smtClean="0"/>
              <a:t>in</a:t>
            </a:r>
            <a:r>
              <a:rPr lang="en-US" baseline="-25000" dirty="0" err="1" smtClean="0"/>
              <a:t>j</a:t>
            </a:r>
            <a:r>
              <a:rPr lang="en-US" dirty="0" smtClean="0"/>
              <a:t>) × (</a:t>
            </a:r>
            <a:r>
              <a:rPr lang="en-US" dirty="0" err="1" smtClean="0"/>
              <a:t>y</a:t>
            </a:r>
            <a:r>
              <a:rPr lang="en-US" baseline="-25000" dirty="0" err="1" smtClean="0"/>
              <a:t>j</a:t>
            </a:r>
            <a:r>
              <a:rPr lang="en-US" dirty="0" smtClean="0"/>
              <a:t> – </a:t>
            </a:r>
            <a:r>
              <a:rPr lang="en-US" dirty="0" err="1" smtClean="0"/>
              <a:t>a</a:t>
            </a:r>
            <a:r>
              <a:rPr lang="en-US" baseline="-25000" dirty="0" err="1" smtClean="0"/>
              <a:t>j</a:t>
            </a:r>
            <a:r>
              <a:rPr lang="en-US" dirty="0" smtClean="0"/>
              <a:t>)</a:t>
            </a:r>
          </a:p>
          <a:p>
            <a:pPr marL="400050" lvl="1" indent="0">
              <a:buNone/>
            </a:pPr>
            <a:r>
              <a:rPr lang="en-US" dirty="0" smtClean="0"/>
              <a:t>		For each layer l from L-1 to 1 do:</a:t>
            </a:r>
          </a:p>
          <a:p>
            <a:pPr marL="800100" lvl="2" indent="0">
              <a:buNone/>
            </a:pPr>
            <a:r>
              <a:rPr lang="en-US" dirty="0" smtClean="0"/>
              <a:t>		For each node </a:t>
            </a:r>
            <a:r>
              <a:rPr lang="en-US" dirty="0" err="1" smtClean="0"/>
              <a:t>i</a:t>
            </a:r>
            <a:r>
              <a:rPr lang="en-US" dirty="0" smtClean="0"/>
              <a:t> in layer l do:</a:t>
            </a:r>
            <a:br>
              <a:rPr lang="en-US" dirty="0" smtClean="0"/>
            </a:br>
            <a:r>
              <a:rPr lang="en-US" dirty="0" smtClean="0"/>
              <a:t>			</a:t>
            </a:r>
            <a:r>
              <a:rPr lang="en-US" dirty="0" err="1" smtClean="0"/>
              <a:t>Δ</a:t>
            </a:r>
            <a:r>
              <a:rPr lang="en-US" baseline="-25000" dirty="0" err="1" smtClean="0"/>
              <a:t>i</a:t>
            </a:r>
            <a:r>
              <a:rPr lang="en-US" dirty="0" smtClean="0"/>
              <a:t> = g’(</a:t>
            </a:r>
            <a:r>
              <a:rPr lang="en-US" dirty="0" err="1" smtClean="0"/>
              <a:t>in</a:t>
            </a:r>
            <a:r>
              <a:rPr lang="en-US" baseline="-25000" dirty="0" err="1" smtClean="0"/>
              <a:t>i</a:t>
            </a:r>
            <a:r>
              <a:rPr lang="en-US" dirty="0" smtClean="0"/>
              <a:t>)∑</a:t>
            </a:r>
            <a:r>
              <a:rPr lang="en-US" baseline="-25000" dirty="0" smtClean="0"/>
              <a:t>j</a:t>
            </a:r>
            <a:r>
              <a:rPr lang="en-US" dirty="0" smtClean="0"/>
              <a:t> </a:t>
            </a:r>
            <a:r>
              <a:rPr lang="en-US" dirty="0" err="1" smtClean="0"/>
              <a:t>w</a:t>
            </a:r>
            <a:r>
              <a:rPr lang="en-US" baseline="-25000" dirty="0" err="1" smtClean="0"/>
              <a:t>i,j</a:t>
            </a:r>
            <a:r>
              <a:rPr lang="en-US" dirty="0" err="1" smtClean="0"/>
              <a:t>∆</a:t>
            </a:r>
            <a:r>
              <a:rPr lang="en-US" baseline="-25000" dirty="0" err="1" smtClean="0"/>
              <a:t>j</a:t>
            </a:r>
            <a:endParaRPr lang="en-US" baseline="-25000" dirty="0" smtClean="0"/>
          </a:p>
          <a:p>
            <a:pPr marL="800100" lvl="2" indent="0">
              <a:buNone/>
            </a:pPr>
            <a:r>
              <a:rPr lang="en-US" dirty="0" smtClean="0"/>
              <a:t>		For each weight </a:t>
            </a:r>
            <a:r>
              <a:rPr lang="en-US" dirty="0" err="1" smtClean="0"/>
              <a:t>w</a:t>
            </a:r>
            <a:r>
              <a:rPr lang="en-US" baseline="-25000" dirty="0" err="1" smtClean="0"/>
              <a:t>i,j</a:t>
            </a:r>
            <a:r>
              <a:rPr lang="en-US" dirty="0" smtClean="0"/>
              <a:t> in network do:</a:t>
            </a:r>
            <a:br>
              <a:rPr lang="en-US" dirty="0" smtClean="0"/>
            </a:br>
            <a:r>
              <a:rPr lang="en-US" dirty="0" smtClean="0"/>
              <a:t>			</a:t>
            </a:r>
            <a:r>
              <a:rPr lang="en-US" dirty="0" err="1" smtClean="0"/>
              <a:t>w</a:t>
            </a:r>
            <a:r>
              <a:rPr lang="en-US" baseline="-25000" dirty="0" err="1" smtClean="0"/>
              <a:t>i,j</a:t>
            </a:r>
            <a:r>
              <a:rPr lang="en-US" dirty="0" smtClean="0"/>
              <a:t> = </a:t>
            </a:r>
            <a:r>
              <a:rPr lang="en-US" dirty="0" err="1" smtClean="0"/>
              <a:t>w</a:t>
            </a:r>
            <a:r>
              <a:rPr lang="en-US" baseline="-25000" dirty="0" err="1" smtClean="0"/>
              <a:t>i,j</a:t>
            </a:r>
            <a:r>
              <a:rPr lang="en-US" dirty="0" smtClean="0"/>
              <a:t> + (α × </a:t>
            </a:r>
            <a:r>
              <a:rPr lang="en-US" dirty="0" err="1" smtClean="0"/>
              <a:t>a</a:t>
            </a:r>
            <a:r>
              <a:rPr lang="en-US" baseline="-25000" dirty="0" err="1" smtClean="0"/>
              <a:t>i</a:t>
            </a:r>
            <a:r>
              <a:rPr lang="en-US" dirty="0" smtClean="0"/>
              <a:t> × ∆</a:t>
            </a:r>
            <a:r>
              <a:rPr lang="en-US" baseline="-25000" dirty="0" smtClean="0"/>
              <a:t>j</a:t>
            </a:r>
            <a:r>
              <a:rPr lang="en-US" dirty="0" smtClean="0"/>
              <a:t>) x -1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Repeat until some stopping criteria</a:t>
            </a:r>
          </a:p>
          <a:p>
            <a:pPr marL="514350" indent="-514350">
              <a:buFont typeface="+mj-lt"/>
              <a:buAutoNum type="arabicPeriod"/>
            </a:pP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3705835" y="2041406"/>
            <a:ext cx="518091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FF0000"/>
                </a:solidFill>
              </a:rPr>
              <a:t>input</a:t>
            </a:r>
            <a:endParaRPr lang="en-US" sz="1200" dirty="0">
              <a:solidFill>
                <a:srgbClr val="FF0000"/>
              </a:solidFill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4318000" y="2041406"/>
            <a:ext cx="611465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FF0000"/>
                </a:solidFill>
              </a:rPr>
              <a:t>output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7" name="Straight Arrow Connector 6"/>
          <p:cNvCxnSpPr>
            <a:stCxn id="4" idx="2"/>
          </p:cNvCxnSpPr>
          <p:nvPr/>
        </p:nvCxnSpPr>
        <p:spPr>
          <a:xfrm>
            <a:off x="3964881" y="2318405"/>
            <a:ext cx="155563" cy="249817"/>
          </a:xfrm>
          <a:prstGeom prst="straightConnector1">
            <a:avLst/>
          </a:prstGeom>
          <a:ln w="1270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stCxn id="5" idx="2"/>
          </p:cNvCxnSpPr>
          <p:nvPr/>
        </p:nvCxnSpPr>
        <p:spPr>
          <a:xfrm flipH="1">
            <a:off x="4449704" y="2318405"/>
            <a:ext cx="174029" cy="249817"/>
          </a:xfrm>
          <a:prstGeom prst="straightConnector1">
            <a:avLst/>
          </a:prstGeom>
          <a:ln w="1270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6227704" y="2949682"/>
            <a:ext cx="163307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FF0000"/>
                </a:solidFill>
              </a:rPr>
              <a:t>Derivative of activation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17" name="Straight Arrow Connector 16"/>
          <p:cNvCxnSpPr>
            <a:stCxn id="16" idx="1"/>
          </p:cNvCxnSpPr>
          <p:nvPr/>
        </p:nvCxnSpPr>
        <p:spPr>
          <a:xfrm flipH="1">
            <a:off x="3236148" y="3088182"/>
            <a:ext cx="2991556" cy="646559"/>
          </a:xfrm>
          <a:prstGeom prst="straightConnector1">
            <a:avLst/>
          </a:prstGeom>
          <a:ln w="1270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6697391" y="3503908"/>
            <a:ext cx="223728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FF0000"/>
                </a:solidFill>
              </a:rPr>
              <a:t>Difference between output node</a:t>
            </a:r>
          </a:p>
          <a:p>
            <a:r>
              <a:rPr lang="en-US" sz="1200" dirty="0" smtClean="0">
                <a:solidFill>
                  <a:srgbClr val="FF0000"/>
                </a:solidFill>
              </a:rPr>
              <a:t>activation and the answer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22" name="Straight Arrow Connector 21"/>
          <p:cNvCxnSpPr>
            <a:stCxn id="21" idx="1"/>
          </p:cNvCxnSpPr>
          <p:nvPr/>
        </p:nvCxnSpPr>
        <p:spPr>
          <a:xfrm flipH="1">
            <a:off x="4449704" y="3734741"/>
            <a:ext cx="2247687" cy="131703"/>
          </a:xfrm>
          <a:prstGeom prst="straightConnector1">
            <a:avLst/>
          </a:prstGeom>
          <a:ln w="1270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3705835" y="6291224"/>
            <a:ext cx="112082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dirty="0" smtClean="0">
                <a:solidFill>
                  <a:srgbClr val="FF0000"/>
                </a:solidFill>
              </a:rPr>
              <a:t>Weight update</a:t>
            </a:r>
            <a:endParaRPr lang="en-US" sz="1200" dirty="0">
              <a:solidFill>
                <a:srgbClr val="FF0000"/>
              </a:solidFill>
            </a:endParaRPr>
          </a:p>
        </p:txBody>
      </p:sp>
      <p:cxnSp>
        <p:nvCxnSpPr>
          <p:cNvPr id="25" name="Straight Arrow Connector 24"/>
          <p:cNvCxnSpPr>
            <a:stCxn id="24" idx="0"/>
          </p:cNvCxnSpPr>
          <p:nvPr/>
        </p:nvCxnSpPr>
        <p:spPr>
          <a:xfrm flipH="1" flipV="1">
            <a:off x="3705835" y="5597407"/>
            <a:ext cx="560410" cy="693817"/>
          </a:xfrm>
          <a:prstGeom prst="straightConnector1">
            <a:avLst/>
          </a:prstGeom>
          <a:ln w="12700" cmpd="sng">
            <a:solidFill>
              <a:srgbClr val="FF0000"/>
            </a:solidFill>
            <a:tailEnd type="arrow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221638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Setting up a neural network learning problem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Decide structure</a:t>
            </a:r>
          </a:p>
          <a:p>
            <a:pPr lvl="1"/>
            <a:r>
              <a:rPr lang="en-US" dirty="0" err="1" smtClean="0"/>
              <a:t>Perceptron</a:t>
            </a:r>
            <a:r>
              <a:rPr lang="en-US" dirty="0" smtClean="0"/>
              <a:t> network</a:t>
            </a:r>
          </a:p>
          <a:p>
            <a:pPr lvl="1"/>
            <a:r>
              <a:rPr lang="en-US" dirty="0" smtClean="0"/>
              <a:t>Multilayer network</a:t>
            </a:r>
          </a:p>
          <a:p>
            <a:pPr lvl="2"/>
            <a:r>
              <a:rPr lang="en-US" dirty="0" smtClean="0"/>
              <a:t>Multilayer usually has one hidden layer</a:t>
            </a:r>
          </a:p>
          <a:p>
            <a:pPr lvl="2"/>
            <a:r>
              <a:rPr lang="en-US" dirty="0" smtClean="0"/>
              <a:t>How many </a:t>
            </a:r>
            <a:r>
              <a:rPr lang="en-US" smtClean="0"/>
              <a:t>hidden nodes?</a:t>
            </a:r>
          </a:p>
          <a:p>
            <a:pPr lvl="2"/>
            <a:r>
              <a:rPr lang="en-US" dirty="0" smtClean="0"/>
              <a:t>Each layer fully connected to the next layer</a:t>
            </a:r>
          </a:p>
          <a:p>
            <a:r>
              <a:rPr lang="en-US" dirty="0" smtClean="0"/>
              <a:t>Decide learning algorithm</a:t>
            </a:r>
          </a:p>
          <a:p>
            <a:pPr lvl="1"/>
            <a:r>
              <a:rPr lang="en-US" dirty="0" smtClean="0"/>
              <a:t>Back propagation</a:t>
            </a:r>
          </a:p>
          <a:p>
            <a:pPr lvl="1"/>
            <a:r>
              <a:rPr lang="en-US" dirty="0" smtClean="0"/>
              <a:t>Other forms of gradient descent or hill-climbing</a:t>
            </a:r>
          </a:p>
        </p:txBody>
      </p:sp>
    </p:spTree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train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Epoch: feed each &lt;x</a:t>
            </a:r>
            <a:r>
              <a:rPr lang="en-US" baseline="-25000" dirty="0" smtClean="0"/>
              <a:t>i</a:t>
            </a:r>
            <a:r>
              <a:rPr lang="en-US" dirty="0" smtClean="0"/>
              <a:t>, </a:t>
            </a:r>
            <a:r>
              <a:rPr lang="en-US" dirty="0" err="1" smtClean="0"/>
              <a:t>y</a:t>
            </a:r>
            <a:r>
              <a:rPr lang="en-US" baseline="-25000" dirty="0" err="1" smtClean="0"/>
              <a:t>i</a:t>
            </a:r>
            <a:r>
              <a:rPr lang="en-US" dirty="0" smtClean="0"/>
              <a:t>&gt; data point through the neural network and </a:t>
            </a:r>
            <a:r>
              <a:rPr lang="en-US" dirty="0" err="1" smtClean="0"/>
              <a:t>backpropagate</a:t>
            </a:r>
            <a:r>
              <a:rPr lang="en-US" dirty="0" smtClean="0"/>
              <a:t> error</a:t>
            </a:r>
          </a:p>
          <a:p>
            <a:r>
              <a:rPr lang="en-US" dirty="0" smtClean="0"/>
              <a:t>Each data point will result in a change in weights</a:t>
            </a:r>
          </a:p>
          <a:p>
            <a:r>
              <a:rPr lang="en-US" dirty="0" smtClean="0"/>
              <a:t>Data point 2 may cause weight changes to undo the changes for data point 1</a:t>
            </a:r>
          </a:p>
          <a:p>
            <a:r>
              <a:rPr lang="en-US" dirty="0" smtClean="0"/>
              <a:t>Solution: run multiple epochs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56756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95372"/>
            <a:ext cx="8229600" cy="6325842"/>
          </a:xfrm>
        </p:spPr>
        <p:txBody>
          <a:bodyPr>
            <a:normAutofit/>
          </a:bodyPr>
          <a:lstStyle/>
          <a:p>
            <a:r>
              <a:rPr lang="en-US" dirty="0" smtClean="0"/>
              <a:t>Error decreases to zero – converges to a perfect fit on training data</a:t>
            </a:r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endParaRPr lang="en-US" dirty="0" smtClean="0"/>
          </a:p>
          <a:p>
            <a:endParaRPr lang="en-US" dirty="0"/>
          </a:p>
          <a:p>
            <a:r>
              <a:rPr lang="en-US" dirty="0" smtClean="0"/>
              <a:t>Continue to run epochs until total error on training set converges </a:t>
            </a:r>
          </a:p>
          <a:p>
            <a:pPr marL="0" indent="0">
              <a:buNone/>
            </a:pPr>
            <a:endParaRPr lang="en-US" dirty="0" smtClean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6545" y="1336124"/>
            <a:ext cx="5672240" cy="3910727"/>
          </a:xfrm>
          <a:prstGeom prst="rect">
            <a:avLst/>
          </a:prstGeom>
        </p:spPr>
      </p:pic>
      <p:sp>
        <p:nvSpPr>
          <p:cNvPr id="2" name="Rectangle 1"/>
          <p:cNvSpPr/>
          <p:nvPr/>
        </p:nvSpPr>
        <p:spPr>
          <a:xfrm>
            <a:off x="6632542" y="5908838"/>
            <a:ext cx="1728695" cy="209814"/>
          </a:xfrm>
          <a:prstGeom prst="rect">
            <a:avLst/>
          </a:prstGeom>
          <a:ln>
            <a:noFill/>
          </a:ln>
          <a:effec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xmlns:p14="http://schemas.microsoft.com/office/powerpoint/2010/main" spd="slow"/>
    </mc:Fallback>
  </mc:AlternateContent>
  <p:timing>
    <p:tnLst>
      <p:par>
        <p:cTn xmlns:p14="http://schemas.microsoft.com/office/powerpoint/2010/main"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train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Good practice is to test network periodically</a:t>
            </a:r>
          </a:p>
          <a:p>
            <a:r>
              <a:rPr lang="en-US" dirty="0" smtClean="0"/>
              <a:t>Training set: used to train the network</a:t>
            </a:r>
          </a:p>
          <a:p>
            <a:r>
              <a:rPr lang="en-US" dirty="0" smtClean="0"/>
              <a:t>Testing set: held out and only used to test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87267" y="3446219"/>
            <a:ext cx="4712569" cy="34117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75121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do we assess?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 smtClean="0"/>
              <a:t>How do we know </a:t>
            </a:r>
            <a:r>
              <a:rPr lang="en-US" dirty="0" err="1" smtClean="0"/>
              <a:t>h</a:t>
            </a:r>
            <a:r>
              <a:rPr lang="en-US" dirty="0" smtClean="0"/>
              <a:t> ≈ </a:t>
            </a:r>
            <a:r>
              <a:rPr lang="en-US" dirty="0" err="1" smtClean="0"/>
              <a:t>f</a:t>
            </a:r>
            <a:r>
              <a:rPr lang="en-US" dirty="0" smtClean="0"/>
              <a:t>?</a:t>
            </a:r>
          </a:p>
          <a:p>
            <a:r>
              <a:rPr lang="en-US" dirty="0" smtClean="0"/>
              <a:t>A learning algorithm is good if it produces hypotheses that do a good job of predicting decisions/classifications from unseen examples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Collect a large set of examples (with answers)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Divide into training set and test set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Use training set to produce hypothesis </a:t>
            </a:r>
            <a:r>
              <a:rPr lang="en-US" dirty="0" err="1" smtClean="0"/>
              <a:t>h</a:t>
            </a:r>
            <a:endParaRPr lang="en-US" dirty="0" smtClean="0"/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Apply </a:t>
            </a:r>
            <a:r>
              <a:rPr lang="en-US" dirty="0" err="1" smtClean="0"/>
              <a:t>h</a:t>
            </a:r>
            <a:r>
              <a:rPr lang="en-US" dirty="0" smtClean="0"/>
              <a:t> to test set (w/o answers)</a:t>
            </a:r>
          </a:p>
          <a:p>
            <a:pPr marL="971550" lvl="1" indent="-514350"/>
            <a:r>
              <a:rPr lang="en-US" dirty="0" smtClean="0"/>
              <a:t>Measure % examples that are correctly classified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 smtClean="0"/>
              <a:t>Repeat 2-4  for different sizes of training sets, randomly selecting examples for training and test</a:t>
            </a:r>
          </a:p>
          <a:p>
            <a:pPr marL="914400" lvl="1" indent="-514350"/>
            <a:r>
              <a:rPr lang="en-US" dirty="0" smtClean="0"/>
              <a:t>Vary size of training set </a:t>
            </a:r>
            <a:r>
              <a:rPr lang="en-US" dirty="0" err="1" smtClean="0"/>
              <a:t>m</a:t>
            </a:r>
            <a:endParaRPr lang="en-US" dirty="0" smtClean="0"/>
          </a:p>
          <a:p>
            <a:pPr marL="914400" lvl="1" indent="-514350"/>
            <a:r>
              <a:rPr lang="en-US" dirty="0" smtClean="0"/>
              <a:t>Vary which </a:t>
            </a:r>
            <a:r>
              <a:rPr lang="en-US" dirty="0" err="1" smtClean="0"/>
              <a:t>m</a:t>
            </a:r>
            <a:r>
              <a:rPr lang="en-US" dirty="0" smtClean="0"/>
              <a:t> examples are training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17132248"/>
      </p:ext>
    </p:extLst>
  </p:cSld>
  <p:clrMapOvr>
    <a:masterClrMapping/>
  </p:clrMapOvr>
  <p:timing>
    <p:tnLst>
      <p:par>
        <p:cTn xmlns:p14="http://schemas.microsoft.com/office/powerpoint/2010/main"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5271</TotalTime>
  <Words>408</Words>
  <Application>Microsoft Macintosh PowerPoint</Application>
  <PresentationFormat>On-screen Show (4:3)</PresentationFormat>
  <Paragraphs>76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0" baseType="lpstr">
      <vt:lpstr>Office Theme</vt:lpstr>
      <vt:lpstr>Comparison to logic</vt:lpstr>
      <vt:lpstr>Back propagation</vt:lpstr>
      <vt:lpstr>Back propagation</vt:lpstr>
      <vt:lpstr>Back propagation</vt:lpstr>
      <vt:lpstr>Setting up a neural network learning problem</vt:lpstr>
      <vt:lpstr>How to train</vt:lpstr>
      <vt:lpstr>PowerPoint Presentation</vt:lpstr>
      <vt:lpstr>How to train</vt:lpstr>
      <vt:lpstr>How do we assess?</vt:lpstr>
    </vt:vector>
  </TitlesOfParts>
  <Company>Georgia Institute of Technology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Neural Networks</dc:title>
  <dc:creator>Mark Riedl</dc:creator>
  <cp:lastModifiedBy>Mark Riedl</cp:lastModifiedBy>
  <cp:revision>119</cp:revision>
  <cp:lastPrinted>2015-11-23T14:15:47Z</cp:lastPrinted>
  <dcterms:created xsi:type="dcterms:W3CDTF">2011-04-27T16:50:04Z</dcterms:created>
  <dcterms:modified xsi:type="dcterms:W3CDTF">2018-12-04T19:56:16Z</dcterms:modified>
</cp:coreProperties>
</file>